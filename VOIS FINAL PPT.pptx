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40" r:id="rId11"/>
    <p:sldId id="347" r:id="rId12"/>
    <p:sldId id="344" r:id="rId13"/>
    <p:sldId id="345" r:id="rId14"/>
    <p:sldId id="349" r:id="rId15"/>
    <p:sldId id="348" r:id="rId16"/>
    <p:sldId id="346"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3" d="100"/>
          <a:sy n="93" d="100"/>
        </p:scale>
        <p:origin x="206" y="8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9/6/2026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9/6/2026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9/6/2026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9/6/2026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9/6/2026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6" y="3583914"/>
            <a:ext cx="9268302" cy="861497"/>
          </a:xfrm>
        </p:spPr>
        <p:txBody>
          <a:bodyPr vert="horz" lIns="91440" tIns="45720" rIns="91440" bIns="45720" rtlCol="0" anchor="t">
            <a:normAutofit/>
          </a:bodyPr>
          <a:lstStyle/>
          <a:p>
            <a:pPr algn="r"/>
            <a:r>
              <a:rPr lang="en-IN" b="0" dirty="0">
                <a:solidFill>
                  <a:schemeClr val="tx1"/>
                </a:solidFill>
              </a:rPr>
              <a:t>INIGO AMALAN A</a:t>
            </a:r>
          </a:p>
          <a:p>
            <a:pPr algn="r"/>
            <a:r>
              <a:rPr lang="en-IN" b="0" dirty="0">
                <a:solidFill>
                  <a:schemeClr val="tx1"/>
                </a:solidFill>
              </a:rPr>
              <a:t>KARUNYA INSTITUTE OF TECHNOLOGY AND SCIENCES</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7567712" cy="861496"/>
          </a:xfrm>
        </p:spPr>
        <p:txBody>
          <a:bodyPr>
            <a:normAutofit fontScale="90000"/>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7074486" cy="369332"/>
          </a:xfrm>
          <a:prstGeom prst="rect">
            <a:avLst/>
          </a:prstGeom>
          <a:noFill/>
        </p:spPr>
        <p:txBody>
          <a:bodyPr wrap="square" rtlCol="0">
            <a:spAutoFit/>
          </a:bodyPr>
          <a:lstStyle/>
          <a:p>
            <a:r>
              <a:rPr lang="en-US" b="1" dirty="0"/>
              <a:t>AICTE STU ID :STU6825ff893751c1747320713</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811474" y="1003996"/>
            <a:ext cx="6124785" cy="660047"/>
          </a:xfrm>
        </p:spPr>
        <p:txBody>
          <a:bodyPr>
            <a:normAutofit fontScale="90000"/>
          </a:bodyPr>
          <a:lstStyle/>
          <a:p>
            <a:r>
              <a:rPr lang="en-GB" dirty="0"/>
              <a:t>Project Description</a:t>
            </a:r>
            <a:br>
              <a:rPr lang="en-GB" dirty="0"/>
            </a:br>
            <a:br>
              <a:rPr lang="en-GB" b="0" dirty="0"/>
            </a:br>
            <a:r>
              <a:rPr lang="en-IN" sz="2700" b="0" dirty="0"/>
              <a:t>Seasonal Agriculture Performance Analysis </a:t>
            </a:r>
            <a:r>
              <a:rPr lang="en-IN" sz="2700" b="0" dirty="0" err="1"/>
              <a:t>analyzes</a:t>
            </a:r>
            <a:r>
              <a:rPr lang="en-IN" sz="2700" b="0" dirty="0"/>
              <a:t> agricultural data across Kharif, Rabi, and Zaid seasons to identify patterns in crop yield, environmental conditions, resource usage, revenue, and profit. Data analysis and visualization techniques are used to compare seasonal performance and generate data-driven insights for better agricultural planning.</a:t>
            </a:r>
            <a:br>
              <a:rPr lang="en-GB" sz="2700" b="0" dirty="0"/>
            </a:br>
            <a:endParaRPr lang="en-IN" sz="2700"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7500" lnSpcReduction="20000"/>
          </a:bodyPr>
          <a:lstStyle/>
          <a:p>
            <a:pPr lvl="0"/>
            <a:r>
              <a:rPr lang="en-IN" sz="3600" b="1" dirty="0"/>
              <a:t>Farmers</a:t>
            </a:r>
            <a:r>
              <a:rPr lang="en-IN" sz="3600" dirty="0"/>
              <a:t> – to understand seasonal crop performance and improve farming decisions. </a:t>
            </a:r>
          </a:p>
          <a:p>
            <a:pPr lvl="0"/>
            <a:r>
              <a:rPr lang="en-IN" sz="3600" b="1" dirty="0"/>
              <a:t>Agricultural planners</a:t>
            </a:r>
            <a:r>
              <a:rPr lang="en-IN" sz="3600" dirty="0"/>
              <a:t> – to support seasonal planning and resource management. </a:t>
            </a:r>
          </a:p>
          <a:p>
            <a:pPr lvl="0"/>
            <a:r>
              <a:rPr lang="en-IN" sz="3600" b="1" dirty="0"/>
              <a:t>Agricultural researchers</a:t>
            </a:r>
            <a:r>
              <a:rPr lang="en-IN" sz="3600" dirty="0"/>
              <a:t> – to study seasonal trends and agricultural patterns. </a:t>
            </a:r>
          </a:p>
          <a:p>
            <a:pPr lvl="0"/>
            <a:r>
              <a:rPr lang="en-IN" sz="3600" b="1" dirty="0"/>
              <a:t>Government/agriculture departments</a:t>
            </a:r>
            <a:r>
              <a:rPr lang="en-IN" sz="3600" dirty="0"/>
              <a:t> – to support evidence-based agricultural planning.</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2"/>
            <a:r>
              <a:rPr lang="en-IN" b="1" dirty="0"/>
              <a:t>Python</a:t>
            </a:r>
            <a:r>
              <a:rPr lang="en-IN" dirty="0"/>
              <a:t> </a:t>
            </a:r>
          </a:p>
          <a:p>
            <a:pPr lvl="2"/>
            <a:r>
              <a:rPr lang="en-IN" b="1" dirty="0"/>
              <a:t>Google </a:t>
            </a:r>
            <a:r>
              <a:rPr lang="en-IN" b="1" dirty="0" err="1"/>
              <a:t>Colab</a:t>
            </a:r>
            <a:r>
              <a:rPr lang="en-IN" b="1" dirty="0"/>
              <a:t> </a:t>
            </a:r>
            <a:endParaRPr lang="en-IN" dirty="0"/>
          </a:p>
          <a:p>
            <a:pPr lvl="2"/>
            <a:r>
              <a:rPr lang="en-IN" b="1" dirty="0"/>
              <a:t>Pandas &amp; NumPy</a:t>
            </a:r>
            <a:r>
              <a:rPr lang="en-IN" dirty="0"/>
              <a:t> – Data cleaning and analysis </a:t>
            </a:r>
          </a:p>
          <a:p>
            <a:pPr lvl="2"/>
            <a:r>
              <a:rPr lang="en-IN" b="1" dirty="0"/>
              <a:t>Matplotlib &amp; Seaborn</a:t>
            </a:r>
            <a:r>
              <a:rPr lang="en-IN" dirty="0"/>
              <a:t> – Data visualization </a:t>
            </a:r>
          </a:p>
          <a:p>
            <a:pPr lvl="2"/>
            <a:r>
              <a:rPr lang="en-IN" b="1" dirty="0"/>
              <a:t>SciPy</a:t>
            </a:r>
            <a:r>
              <a:rPr lang="en-IN" dirty="0"/>
              <a:t> – Statistical analysis </a:t>
            </a:r>
          </a:p>
          <a:p>
            <a:pPr lvl="2"/>
            <a:r>
              <a:rPr lang="en-IN" b="1" dirty="0"/>
              <a:t>CSV Dataset</a:t>
            </a:r>
            <a:r>
              <a:rPr lang="en-IN" dirty="0"/>
              <a:t> – Agricultural data source</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BB3AC141-B8B5-0794-EE8C-FA9441728915}"/>
              </a:ext>
            </a:extLst>
          </p:cNvPr>
          <p:cNvPicPr>
            <a:picLocks noChangeAspect="1"/>
          </p:cNvPicPr>
          <p:nvPr/>
        </p:nvPicPr>
        <p:blipFill>
          <a:blip r:embed="rId3"/>
          <a:stretch>
            <a:fillRect/>
          </a:stretch>
        </p:blipFill>
        <p:spPr>
          <a:xfrm>
            <a:off x="675957" y="1741334"/>
            <a:ext cx="6110158" cy="4661607"/>
          </a:xfrm>
          <a:prstGeom prst="rect">
            <a:avLst/>
          </a:prstGeom>
        </p:spPr>
      </p:pic>
      <p:sp>
        <p:nvSpPr>
          <p:cNvPr id="9" name="TextBox 8">
            <a:extLst>
              <a:ext uri="{FF2B5EF4-FFF2-40B4-BE49-F238E27FC236}">
                <a16:creationId xmlns:a16="http://schemas.microsoft.com/office/drawing/2014/main" id="{00BCD04E-2E60-C842-AE84-C0D5B355CCAE}"/>
              </a:ext>
            </a:extLst>
          </p:cNvPr>
          <p:cNvSpPr txBox="1"/>
          <p:nvPr/>
        </p:nvSpPr>
        <p:spPr>
          <a:xfrm>
            <a:off x="2819083" y="1025718"/>
            <a:ext cx="6110158" cy="369332"/>
          </a:xfrm>
          <a:prstGeom prst="rect">
            <a:avLst/>
          </a:prstGeom>
          <a:noFill/>
        </p:spPr>
        <p:txBody>
          <a:bodyPr wrap="square" rtlCol="0">
            <a:spAutoFit/>
          </a:bodyPr>
          <a:lstStyle/>
          <a:p>
            <a:r>
              <a:rPr lang="en-IN" dirty="0"/>
              <a:t>How does agricultural performance vary across seasons? </a:t>
            </a:r>
          </a:p>
        </p:txBody>
      </p:sp>
      <p:sp>
        <p:nvSpPr>
          <p:cNvPr id="10" name="TextBox 9">
            <a:extLst>
              <a:ext uri="{FF2B5EF4-FFF2-40B4-BE49-F238E27FC236}">
                <a16:creationId xmlns:a16="http://schemas.microsoft.com/office/drawing/2014/main" id="{B5B62797-6294-0F9A-A492-224DA2739969}"/>
              </a:ext>
            </a:extLst>
          </p:cNvPr>
          <p:cNvSpPr txBox="1"/>
          <p:nvPr/>
        </p:nvSpPr>
        <p:spPr>
          <a:xfrm>
            <a:off x="7275443" y="2170706"/>
            <a:ext cx="2099145" cy="2862322"/>
          </a:xfrm>
          <a:prstGeom prst="rect">
            <a:avLst/>
          </a:prstGeom>
          <a:noFill/>
        </p:spPr>
        <p:txBody>
          <a:bodyPr wrap="square" rtlCol="0">
            <a:spAutoFit/>
          </a:bodyPr>
          <a:lstStyle/>
          <a:p>
            <a:r>
              <a:rPr lang="en-IN" dirty="0"/>
              <a:t>The chart shows that Kharif has the highest number of agricultural records, followed closely by Rabi, while Zaid has considerably fewer records.</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normAutofit fontScale="70000" lnSpcReduction="20000"/>
          </a:bodyPr>
          <a:lstStyle/>
          <a:p>
            <a:pPr marL="0" indent="0">
              <a:buNone/>
            </a:pPr>
            <a:r>
              <a:rPr lang="en-IN" dirty="0"/>
              <a:t>What major seasonal patterns can be observed? </a:t>
            </a:r>
          </a:p>
        </p:txBody>
      </p:sp>
      <p:pic>
        <p:nvPicPr>
          <p:cNvPr id="3" name="Picture 2">
            <a:extLst>
              <a:ext uri="{FF2B5EF4-FFF2-40B4-BE49-F238E27FC236}">
                <a16:creationId xmlns:a16="http://schemas.microsoft.com/office/drawing/2014/main" id="{4D6A7C5F-DA0D-D60D-B55D-C686B1B0F030}"/>
              </a:ext>
            </a:extLst>
          </p:cNvPr>
          <p:cNvPicPr>
            <a:picLocks noChangeAspect="1"/>
          </p:cNvPicPr>
          <p:nvPr/>
        </p:nvPicPr>
        <p:blipFill>
          <a:blip r:embed="rId3"/>
          <a:stretch>
            <a:fillRect/>
          </a:stretch>
        </p:blipFill>
        <p:spPr>
          <a:xfrm>
            <a:off x="675957" y="2504661"/>
            <a:ext cx="5557865" cy="3782238"/>
          </a:xfrm>
          <a:prstGeom prst="rect">
            <a:avLst/>
          </a:prstGeom>
        </p:spPr>
      </p:pic>
      <p:sp>
        <p:nvSpPr>
          <p:cNvPr id="6" name="TextBox 5">
            <a:extLst>
              <a:ext uri="{FF2B5EF4-FFF2-40B4-BE49-F238E27FC236}">
                <a16:creationId xmlns:a16="http://schemas.microsoft.com/office/drawing/2014/main" id="{9CE68132-B15E-BD12-2820-32F3896F87F1}"/>
              </a:ext>
            </a:extLst>
          </p:cNvPr>
          <p:cNvSpPr txBox="1"/>
          <p:nvPr/>
        </p:nvSpPr>
        <p:spPr>
          <a:xfrm>
            <a:off x="6663194" y="2822713"/>
            <a:ext cx="3343562" cy="2862322"/>
          </a:xfrm>
          <a:prstGeom prst="rect">
            <a:avLst/>
          </a:prstGeom>
          <a:noFill/>
        </p:spPr>
        <p:txBody>
          <a:bodyPr wrap="square" rtlCol="0">
            <a:spAutoFit/>
          </a:bodyPr>
          <a:lstStyle/>
          <a:p>
            <a:r>
              <a:rPr lang="en-IN" dirty="0"/>
              <a:t>Kharif season has the highest average crop yield (~5.6 tonnes/ha), followed by Rabi (~5.0 tonnes/ha), while Zaid has the lowest (~4.6 tonnes/ha). This indicates that crop productivity varies across seasons, with Kharif showing the strongest performance.</a:t>
            </a:r>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AA4F455-8F58-5F60-B63A-4AB604F2EFDA}"/>
              </a:ext>
            </a:extLst>
          </p:cNvPr>
          <p:cNvSpPr>
            <a:spLocks noGrp="1"/>
          </p:cNvSpPr>
          <p:nvPr>
            <p:ph type="body" sz="quarter" idx="12"/>
          </p:nvPr>
        </p:nvSpPr>
        <p:spPr>
          <a:xfrm>
            <a:off x="660400" y="2878372"/>
            <a:ext cx="4275138" cy="2727091"/>
          </a:xfrm>
        </p:spPr>
        <p:txBody>
          <a:bodyPr/>
          <a:lstStyle/>
          <a:p>
            <a:endParaRPr lang="en-IN" dirty="0"/>
          </a:p>
        </p:txBody>
      </p:sp>
      <p:sp>
        <p:nvSpPr>
          <p:cNvPr id="4" name="Title 3">
            <a:extLst>
              <a:ext uri="{FF2B5EF4-FFF2-40B4-BE49-F238E27FC236}">
                <a16:creationId xmlns:a16="http://schemas.microsoft.com/office/drawing/2014/main" id="{EB312216-60C4-AC7B-22D4-2B38998B1BC3}"/>
              </a:ext>
            </a:extLst>
          </p:cNvPr>
          <p:cNvSpPr>
            <a:spLocks noGrp="1"/>
          </p:cNvSpPr>
          <p:nvPr>
            <p:ph type="title"/>
          </p:nvPr>
        </p:nvSpPr>
        <p:spPr/>
        <p:txBody>
          <a:bodyPr/>
          <a:lstStyle/>
          <a:p>
            <a:r>
              <a:rPr lang="en-IN" dirty="0"/>
              <a:t>RESULTS</a:t>
            </a:r>
          </a:p>
        </p:txBody>
      </p:sp>
      <p:sp>
        <p:nvSpPr>
          <p:cNvPr id="5" name="TextBox 4">
            <a:extLst>
              <a:ext uri="{FF2B5EF4-FFF2-40B4-BE49-F238E27FC236}">
                <a16:creationId xmlns:a16="http://schemas.microsoft.com/office/drawing/2014/main" id="{D68CCC28-A725-6968-7B2A-5452CFE07A2B}"/>
              </a:ext>
            </a:extLst>
          </p:cNvPr>
          <p:cNvSpPr txBox="1"/>
          <p:nvPr/>
        </p:nvSpPr>
        <p:spPr>
          <a:xfrm>
            <a:off x="771278" y="1789043"/>
            <a:ext cx="5112688" cy="369332"/>
          </a:xfrm>
          <a:prstGeom prst="rect">
            <a:avLst/>
          </a:prstGeom>
          <a:noFill/>
        </p:spPr>
        <p:txBody>
          <a:bodyPr wrap="square" rtlCol="0">
            <a:spAutoFit/>
          </a:bodyPr>
          <a:lstStyle/>
          <a:p>
            <a:r>
              <a:rPr lang="en-IN" dirty="0"/>
              <a:t>Profit Across Seasons </a:t>
            </a:r>
          </a:p>
        </p:txBody>
      </p:sp>
      <p:pic>
        <p:nvPicPr>
          <p:cNvPr id="7" name="Picture 6">
            <a:extLst>
              <a:ext uri="{FF2B5EF4-FFF2-40B4-BE49-F238E27FC236}">
                <a16:creationId xmlns:a16="http://schemas.microsoft.com/office/drawing/2014/main" id="{536441A1-3850-EA57-8A04-F24528E90517}"/>
              </a:ext>
            </a:extLst>
          </p:cNvPr>
          <p:cNvPicPr>
            <a:picLocks noChangeAspect="1"/>
          </p:cNvPicPr>
          <p:nvPr/>
        </p:nvPicPr>
        <p:blipFill>
          <a:blip r:embed="rId2"/>
          <a:stretch>
            <a:fillRect/>
          </a:stretch>
        </p:blipFill>
        <p:spPr>
          <a:xfrm>
            <a:off x="461177" y="2433099"/>
            <a:ext cx="5899866" cy="3779853"/>
          </a:xfrm>
          <a:prstGeom prst="rect">
            <a:avLst/>
          </a:prstGeom>
        </p:spPr>
      </p:pic>
      <p:sp>
        <p:nvSpPr>
          <p:cNvPr id="8" name="TextBox 7">
            <a:extLst>
              <a:ext uri="{FF2B5EF4-FFF2-40B4-BE49-F238E27FC236}">
                <a16:creationId xmlns:a16="http://schemas.microsoft.com/office/drawing/2014/main" id="{A28C0219-13D7-B351-EA53-9D759C1F1E11}"/>
              </a:ext>
            </a:extLst>
          </p:cNvPr>
          <p:cNvSpPr txBox="1"/>
          <p:nvPr/>
        </p:nvSpPr>
        <p:spPr>
          <a:xfrm>
            <a:off x="7267493" y="2838616"/>
            <a:ext cx="2914476" cy="2585323"/>
          </a:xfrm>
          <a:prstGeom prst="rect">
            <a:avLst/>
          </a:prstGeom>
          <a:noFill/>
        </p:spPr>
        <p:txBody>
          <a:bodyPr wrap="square" rtlCol="0">
            <a:spAutoFit/>
          </a:bodyPr>
          <a:lstStyle/>
          <a:p>
            <a:r>
              <a:rPr lang="en-IN" dirty="0"/>
              <a:t>Kharif has the highest average profit (~₹1.78 lakh), followed by Rabi (~₹88,000). Zaid shows a negative average profit (~₹25,000), indicating that farming during Zaid was less economically profitable in this dataset.</a:t>
            </a:r>
          </a:p>
        </p:txBody>
      </p:sp>
    </p:spTree>
    <p:extLst>
      <p:ext uri="{BB962C8B-B14F-4D97-AF65-F5344CB8AC3E}">
        <p14:creationId xmlns:p14="http://schemas.microsoft.com/office/powerpoint/2010/main" val="26368304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3" y="1431693"/>
            <a:ext cx="6778381" cy="357350"/>
          </a:xfrm>
        </p:spPr>
        <p:txBody>
          <a:bodyPr>
            <a:normAutofit fontScale="92500" lnSpcReduction="10000"/>
          </a:bodyPr>
          <a:lstStyle/>
          <a:p>
            <a:pPr marL="0" indent="0">
              <a:buNone/>
            </a:pPr>
            <a:r>
              <a:rPr lang="en-IN" dirty="0"/>
              <a:t>RECORDS OF DIFFERENT CROPS </a:t>
            </a:r>
          </a:p>
        </p:txBody>
      </p:sp>
      <p:pic>
        <p:nvPicPr>
          <p:cNvPr id="6" name="Picture 5">
            <a:extLst>
              <a:ext uri="{FF2B5EF4-FFF2-40B4-BE49-F238E27FC236}">
                <a16:creationId xmlns:a16="http://schemas.microsoft.com/office/drawing/2014/main" id="{6FB9B007-1826-C9F6-5764-C6C67C5FA527}"/>
              </a:ext>
            </a:extLst>
          </p:cNvPr>
          <p:cNvPicPr>
            <a:picLocks noChangeAspect="1"/>
          </p:cNvPicPr>
          <p:nvPr/>
        </p:nvPicPr>
        <p:blipFill>
          <a:blip r:embed="rId3"/>
          <a:stretch>
            <a:fillRect/>
          </a:stretch>
        </p:blipFill>
        <p:spPr>
          <a:xfrm>
            <a:off x="1208598" y="1684711"/>
            <a:ext cx="6376946" cy="4432898"/>
          </a:xfrm>
          <a:prstGeom prst="rect">
            <a:avLst/>
          </a:prstGeom>
        </p:spPr>
      </p:pic>
      <p:sp>
        <p:nvSpPr>
          <p:cNvPr id="9" name="TextBox 8">
            <a:extLst>
              <a:ext uri="{FF2B5EF4-FFF2-40B4-BE49-F238E27FC236}">
                <a16:creationId xmlns:a16="http://schemas.microsoft.com/office/drawing/2014/main" id="{7ECBD4EA-9B83-E62C-419D-F533BE431907}"/>
              </a:ext>
            </a:extLst>
          </p:cNvPr>
          <p:cNvSpPr txBox="1"/>
          <p:nvPr/>
        </p:nvSpPr>
        <p:spPr>
          <a:xfrm>
            <a:off x="8030818" y="2528515"/>
            <a:ext cx="3236180" cy="2862322"/>
          </a:xfrm>
          <a:prstGeom prst="rect">
            <a:avLst/>
          </a:prstGeom>
          <a:noFill/>
        </p:spPr>
        <p:txBody>
          <a:bodyPr wrap="square" rtlCol="0">
            <a:spAutoFit/>
          </a:bodyPr>
          <a:lstStyle/>
          <a:p>
            <a:r>
              <a:rPr lang="en-IN" dirty="0"/>
              <a:t>Rice has the highest number of agricultural records (~690), followed by Wheat (~615) and Maize (~550). Sugarcane has the fewest records (~305). This shows that the dataset contains more observations for Rice and Wheat compared with the other crops.</a:t>
            </a:r>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normAutofit fontScale="85000" lnSpcReduction="10000"/>
          </a:bodyPr>
          <a:lstStyle/>
          <a:p>
            <a:pPr marL="0" indent="0">
              <a:buNone/>
            </a:pPr>
            <a:r>
              <a:rPr lang="en-IN" dirty="0"/>
              <a:t>Variations Of Yield By Irrigation Method</a:t>
            </a:r>
          </a:p>
        </p:txBody>
      </p:sp>
      <p:pic>
        <p:nvPicPr>
          <p:cNvPr id="6" name="Picture 5">
            <a:extLst>
              <a:ext uri="{FF2B5EF4-FFF2-40B4-BE49-F238E27FC236}">
                <a16:creationId xmlns:a16="http://schemas.microsoft.com/office/drawing/2014/main" id="{124E7A2C-C6BF-C98B-0F34-1CA3455A168D}"/>
              </a:ext>
            </a:extLst>
          </p:cNvPr>
          <p:cNvPicPr>
            <a:picLocks noChangeAspect="1"/>
          </p:cNvPicPr>
          <p:nvPr/>
        </p:nvPicPr>
        <p:blipFill>
          <a:blip r:embed="rId3"/>
          <a:stretch>
            <a:fillRect/>
          </a:stretch>
        </p:blipFill>
        <p:spPr>
          <a:xfrm>
            <a:off x="580445" y="2305878"/>
            <a:ext cx="6663194" cy="4004836"/>
          </a:xfrm>
          <a:prstGeom prst="rect">
            <a:avLst/>
          </a:prstGeom>
        </p:spPr>
      </p:pic>
      <p:sp>
        <p:nvSpPr>
          <p:cNvPr id="9" name="TextBox 8">
            <a:extLst>
              <a:ext uri="{FF2B5EF4-FFF2-40B4-BE49-F238E27FC236}">
                <a16:creationId xmlns:a16="http://schemas.microsoft.com/office/drawing/2014/main" id="{90F7B924-49B2-51F0-BE2C-10F24361C37E}"/>
              </a:ext>
            </a:extLst>
          </p:cNvPr>
          <p:cNvSpPr txBox="1"/>
          <p:nvPr/>
        </p:nvSpPr>
        <p:spPr>
          <a:xfrm>
            <a:off x="8046720" y="2639833"/>
            <a:ext cx="2884891" cy="2585323"/>
          </a:xfrm>
          <a:prstGeom prst="rect">
            <a:avLst/>
          </a:prstGeom>
          <a:noFill/>
        </p:spPr>
        <p:txBody>
          <a:bodyPr wrap="square" rtlCol="0">
            <a:spAutoFit/>
          </a:bodyPr>
          <a:lstStyle/>
          <a:p>
            <a:r>
              <a:rPr lang="en-IN" dirty="0"/>
              <a:t>Drip irrigation gives the highest average yield (~6.6 tonnes/ha), followed by Sprinkler (~5.2 tonnes/ha). Flood and Rainfed irrigation show lower yields (~4.9 and ~4.6 tonnes/ha respectively).</a:t>
            </a:r>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A39A5B-E9BE-4573-D5AB-1D611A289DC4}"/>
              </a:ext>
            </a:extLst>
          </p:cNvPr>
          <p:cNvSpPr>
            <a:spLocks noGrp="1"/>
          </p:cNvSpPr>
          <p:nvPr>
            <p:ph type="body" sz="quarter" idx="12"/>
          </p:nvPr>
        </p:nvSpPr>
        <p:spPr/>
        <p:txBody>
          <a:bodyPr/>
          <a:lstStyle/>
          <a:p>
            <a:endParaRPr lang="en-IN"/>
          </a:p>
        </p:txBody>
      </p:sp>
      <p:sp>
        <p:nvSpPr>
          <p:cNvPr id="4" name="Title 3">
            <a:extLst>
              <a:ext uri="{FF2B5EF4-FFF2-40B4-BE49-F238E27FC236}">
                <a16:creationId xmlns:a16="http://schemas.microsoft.com/office/drawing/2014/main" id="{D24872BF-392D-6845-7D55-0F1828C40766}"/>
              </a:ext>
            </a:extLst>
          </p:cNvPr>
          <p:cNvSpPr>
            <a:spLocks noGrp="1"/>
          </p:cNvSpPr>
          <p:nvPr>
            <p:ph type="title"/>
          </p:nvPr>
        </p:nvSpPr>
        <p:spPr>
          <a:xfrm>
            <a:off x="660400" y="805214"/>
            <a:ext cx="3903649" cy="220504"/>
          </a:xfrm>
        </p:spPr>
        <p:txBody>
          <a:bodyPr>
            <a:normAutofit fontScale="90000"/>
          </a:bodyPr>
          <a:lstStyle/>
          <a:p>
            <a:r>
              <a:rPr lang="en-IN" dirty="0"/>
              <a:t>Result</a:t>
            </a:r>
          </a:p>
        </p:txBody>
      </p:sp>
      <p:pic>
        <p:nvPicPr>
          <p:cNvPr id="6" name="Picture 5">
            <a:extLst>
              <a:ext uri="{FF2B5EF4-FFF2-40B4-BE49-F238E27FC236}">
                <a16:creationId xmlns:a16="http://schemas.microsoft.com/office/drawing/2014/main" id="{2973F503-265B-E99B-B203-9FD2DC3DD361}"/>
              </a:ext>
            </a:extLst>
          </p:cNvPr>
          <p:cNvPicPr>
            <a:picLocks noChangeAspect="1"/>
          </p:cNvPicPr>
          <p:nvPr/>
        </p:nvPicPr>
        <p:blipFill>
          <a:blip r:embed="rId2"/>
          <a:stretch>
            <a:fillRect/>
          </a:stretch>
        </p:blipFill>
        <p:spPr>
          <a:xfrm>
            <a:off x="294198" y="1742057"/>
            <a:ext cx="5685182" cy="4870884"/>
          </a:xfrm>
          <a:prstGeom prst="rect">
            <a:avLst/>
          </a:prstGeom>
        </p:spPr>
      </p:pic>
      <p:sp>
        <p:nvSpPr>
          <p:cNvPr id="7" name="TextBox 6">
            <a:extLst>
              <a:ext uri="{FF2B5EF4-FFF2-40B4-BE49-F238E27FC236}">
                <a16:creationId xmlns:a16="http://schemas.microsoft.com/office/drawing/2014/main" id="{5ADE1C50-1E8C-090B-132C-69CBC28B7A43}"/>
              </a:ext>
            </a:extLst>
          </p:cNvPr>
          <p:cNvSpPr txBox="1"/>
          <p:nvPr/>
        </p:nvSpPr>
        <p:spPr>
          <a:xfrm>
            <a:off x="6212623" y="2331308"/>
            <a:ext cx="4241193" cy="1477328"/>
          </a:xfrm>
          <a:prstGeom prst="rect">
            <a:avLst/>
          </a:prstGeom>
          <a:noFill/>
        </p:spPr>
        <p:txBody>
          <a:bodyPr wrap="square" rtlCol="0">
            <a:spAutoFit/>
          </a:bodyPr>
          <a:lstStyle/>
          <a:p>
            <a:r>
              <a:rPr lang="en-IN" dirty="0"/>
              <a:t>Drip irrigation has the highest average yield (~6.6 tonnes/ha), while Rainfed has the lowest (~4.6 tonnes/ha). Flood and Sprinkler methods show moderate yields.</a:t>
            </a:r>
          </a:p>
        </p:txBody>
      </p:sp>
      <p:sp>
        <p:nvSpPr>
          <p:cNvPr id="8" name="TextBox 7">
            <a:extLst>
              <a:ext uri="{FF2B5EF4-FFF2-40B4-BE49-F238E27FC236}">
                <a16:creationId xmlns:a16="http://schemas.microsoft.com/office/drawing/2014/main" id="{2FBD161F-DACE-95C9-EFA9-E16BFE093B7A}"/>
              </a:ext>
            </a:extLst>
          </p:cNvPr>
          <p:cNvSpPr txBox="1"/>
          <p:nvPr/>
        </p:nvSpPr>
        <p:spPr>
          <a:xfrm>
            <a:off x="2600077" y="1129085"/>
            <a:ext cx="6759121" cy="369332"/>
          </a:xfrm>
          <a:prstGeom prst="rect">
            <a:avLst/>
          </a:prstGeom>
          <a:noFill/>
        </p:spPr>
        <p:txBody>
          <a:bodyPr wrap="square" rtlCol="0">
            <a:spAutoFit/>
          </a:bodyPr>
          <a:lstStyle/>
          <a:p>
            <a:r>
              <a:rPr lang="en-IN" dirty="0"/>
              <a:t>Average Yield By Irrigation Method</a:t>
            </a:r>
          </a:p>
        </p:txBody>
      </p:sp>
    </p:spTree>
    <p:extLst>
      <p:ext uri="{BB962C8B-B14F-4D97-AF65-F5344CB8AC3E}">
        <p14:creationId xmlns:p14="http://schemas.microsoft.com/office/powerpoint/2010/main" val="27294767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A9F4F5-4970-1B84-072B-709C3E9BF3D8}"/>
              </a:ext>
            </a:extLst>
          </p:cNvPr>
          <p:cNvSpPr>
            <a:spLocks noGrp="1"/>
          </p:cNvSpPr>
          <p:nvPr>
            <p:ph type="body" sz="quarter" idx="12"/>
          </p:nvPr>
        </p:nvSpPr>
        <p:spPr>
          <a:xfrm>
            <a:off x="660400" y="2044701"/>
            <a:ext cx="4110383" cy="295604"/>
          </a:xfrm>
        </p:spPr>
        <p:txBody>
          <a:bodyPr>
            <a:normAutofit fontScale="77500" lnSpcReduction="20000"/>
          </a:bodyPr>
          <a:lstStyle/>
          <a:p>
            <a:r>
              <a:rPr lang="en-IN" dirty="0"/>
              <a:t>Average crop yield by Season</a:t>
            </a:r>
          </a:p>
        </p:txBody>
      </p:sp>
      <p:sp>
        <p:nvSpPr>
          <p:cNvPr id="4" name="Title 3">
            <a:extLst>
              <a:ext uri="{FF2B5EF4-FFF2-40B4-BE49-F238E27FC236}">
                <a16:creationId xmlns:a16="http://schemas.microsoft.com/office/drawing/2014/main" id="{91F1ADBE-C628-70B2-8DB7-8B9C3B0222CB}"/>
              </a:ext>
            </a:extLst>
          </p:cNvPr>
          <p:cNvSpPr>
            <a:spLocks noGrp="1"/>
          </p:cNvSpPr>
          <p:nvPr>
            <p:ph type="title"/>
          </p:nvPr>
        </p:nvSpPr>
        <p:spPr/>
        <p:txBody>
          <a:bodyPr/>
          <a:lstStyle/>
          <a:p>
            <a:r>
              <a:rPr lang="en-IN" dirty="0"/>
              <a:t>RESULT</a:t>
            </a:r>
          </a:p>
        </p:txBody>
      </p:sp>
      <p:pic>
        <p:nvPicPr>
          <p:cNvPr id="6" name="Picture 5">
            <a:extLst>
              <a:ext uri="{FF2B5EF4-FFF2-40B4-BE49-F238E27FC236}">
                <a16:creationId xmlns:a16="http://schemas.microsoft.com/office/drawing/2014/main" id="{6A8F00E2-6E25-1EDA-6C14-9D82BFD97662}"/>
              </a:ext>
            </a:extLst>
          </p:cNvPr>
          <p:cNvPicPr>
            <a:picLocks noChangeAspect="1"/>
          </p:cNvPicPr>
          <p:nvPr/>
        </p:nvPicPr>
        <p:blipFill>
          <a:blip r:embed="rId2"/>
          <a:stretch>
            <a:fillRect/>
          </a:stretch>
        </p:blipFill>
        <p:spPr>
          <a:xfrm>
            <a:off x="660400" y="2719346"/>
            <a:ext cx="8057857" cy="3294607"/>
          </a:xfrm>
          <a:prstGeom prst="rect">
            <a:avLst/>
          </a:prstGeom>
        </p:spPr>
      </p:pic>
      <p:sp>
        <p:nvSpPr>
          <p:cNvPr id="7" name="TextBox 6">
            <a:extLst>
              <a:ext uri="{FF2B5EF4-FFF2-40B4-BE49-F238E27FC236}">
                <a16:creationId xmlns:a16="http://schemas.microsoft.com/office/drawing/2014/main" id="{EEFCFA54-9DA6-49B8-15DF-611A37066E56}"/>
              </a:ext>
            </a:extLst>
          </p:cNvPr>
          <p:cNvSpPr txBox="1"/>
          <p:nvPr/>
        </p:nvSpPr>
        <p:spPr>
          <a:xfrm>
            <a:off x="7741993" y="1480368"/>
            <a:ext cx="3155092" cy="2308324"/>
          </a:xfrm>
          <a:prstGeom prst="rect">
            <a:avLst/>
          </a:prstGeom>
          <a:noFill/>
        </p:spPr>
        <p:txBody>
          <a:bodyPr wrap="square" rtlCol="0">
            <a:spAutoFit/>
          </a:bodyPr>
          <a:lstStyle/>
          <a:p>
            <a:r>
              <a:rPr lang="en-IN" dirty="0"/>
              <a:t>Sugarcane has by far the highest average yield across all seasons, with its highest yield in Kharif (53.46 tonnes/ha). For every crop shown, Kharif has the highest yield, followed by Rabi and Zaid.</a:t>
            </a:r>
          </a:p>
        </p:txBody>
      </p:sp>
    </p:spTree>
    <p:extLst>
      <p:ext uri="{BB962C8B-B14F-4D97-AF65-F5344CB8AC3E}">
        <p14:creationId xmlns:p14="http://schemas.microsoft.com/office/powerpoint/2010/main" val="40881926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Affection of Rainfall in Crop Yield</a:t>
            </a:r>
            <a:endParaRPr lang="en-IN" dirty="0"/>
          </a:p>
        </p:txBody>
      </p:sp>
      <p:pic>
        <p:nvPicPr>
          <p:cNvPr id="3" name="Picture 2">
            <a:extLst>
              <a:ext uri="{FF2B5EF4-FFF2-40B4-BE49-F238E27FC236}">
                <a16:creationId xmlns:a16="http://schemas.microsoft.com/office/drawing/2014/main" id="{3E2E15CA-9593-BE38-40A9-47969141D916}"/>
              </a:ext>
            </a:extLst>
          </p:cNvPr>
          <p:cNvPicPr>
            <a:picLocks noChangeAspect="1"/>
          </p:cNvPicPr>
          <p:nvPr/>
        </p:nvPicPr>
        <p:blipFill>
          <a:blip r:embed="rId3"/>
          <a:stretch>
            <a:fillRect/>
          </a:stretch>
        </p:blipFill>
        <p:spPr>
          <a:xfrm>
            <a:off x="1121133" y="2584174"/>
            <a:ext cx="5605669" cy="3659856"/>
          </a:xfrm>
          <a:prstGeom prst="rect">
            <a:avLst/>
          </a:prstGeom>
        </p:spPr>
      </p:pic>
      <p:sp>
        <p:nvSpPr>
          <p:cNvPr id="6" name="TextBox 5">
            <a:extLst>
              <a:ext uri="{FF2B5EF4-FFF2-40B4-BE49-F238E27FC236}">
                <a16:creationId xmlns:a16="http://schemas.microsoft.com/office/drawing/2014/main" id="{F9DBA55E-5B62-A2AB-F7D1-B43BFA533856}"/>
              </a:ext>
            </a:extLst>
          </p:cNvPr>
          <p:cNvSpPr txBox="1"/>
          <p:nvPr/>
        </p:nvSpPr>
        <p:spPr>
          <a:xfrm>
            <a:off x="7578811" y="2215978"/>
            <a:ext cx="3212757" cy="2585323"/>
          </a:xfrm>
          <a:prstGeom prst="rect">
            <a:avLst/>
          </a:prstGeom>
          <a:noFill/>
        </p:spPr>
        <p:txBody>
          <a:bodyPr wrap="square" rtlCol="0">
            <a:spAutoFit/>
          </a:bodyPr>
          <a:lstStyle/>
          <a:p>
            <a:r>
              <a:rPr lang="en-IN" dirty="0"/>
              <a:t>The scatter plot shows that rainfall and crop yield do not have a clear linear relationship. Most observations have relatively low yields, while some higher-yield cases occur across different rainfall levels.</a:t>
            </a:r>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4B7EEDD0-B5D4-9347-A6A1-C8752E4A8FC3}"/>
              </a:ext>
            </a:extLst>
          </p:cNvPr>
          <p:cNvSpPr txBox="1"/>
          <p:nvPr/>
        </p:nvSpPr>
        <p:spPr>
          <a:xfrm>
            <a:off x="675957" y="2015234"/>
            <a:ext cx="5995187" cy="3447098"/>
          </a:xfrm>
          <a:prstGeom prst="rect">
            <a:avLst/>
          </a:prstGeom>
          <a:noFill/>
        </p:spPr>
        <p:txBody>
          <a:bodyPr wrap="square" rtlCol="0">
            <a:spAutoFit/>
          </a:bodyPr>
          <a:lstStyle/>
          <a:p>
            <a:pPr lvl="0"/>
            <a:r>
              <a:rPr lang="en-IN" sz="2000" dirty="0"/>
              <a:t>Develop </a:t>
            </a:r>
            <a:r>
              <a:rPr lang="en-IN" sz="2000" b="1" dirty="0"/>
              <a:t>predictive models</a:t>
            </a:r>
            <a:r>
              <a:rPr lang="en-IN" sz="2000" dirty="0"/>
              <a:t> to forecast crop yield and profit for different seasons. </a:t>
            </a:r>
          </a:p>
          <a:p>
            <a:pPr lvl="0"/>
            <a:r>
              <a:rPr lang="en-IN" sz="2000" dirty="0"/>
              <a:t>Integrate </a:t>
            </a:r>
            <a:r>
              <a:rPr lang="en-IN" sz="2000" b="1" dirty="0"/>
              <a:t>real-time weather and soil data</a:t>
            </a:r>
            <a:r>
              <a:rPr lang="en-IN" sz="2000" dirty="0"/>
              <a:t> for better analysis. </a:t>
            </a:r>
          </a:p>
          <a:p>
            <a:pPr lvl="0"/>
            <a:r>
              <a:rPr lang="en-IN" sz="2000" dirty="0"/>
              <a:t>Build a </a:t>
            </a:r>
            <a:r>
              <a:rPr lang="en-IN" sz="2000" b="1" dirty="0"/>
              <a:t>farmer-friendly dashboard</a:t>
            </a:r>
            <a:r>
              <a:rPr lang="en-IN" sz="2000" dirty="0"/>
              <a:t> for monitoring agricultural performance. </a:t>
            </a:r>
          </a:p>
          <a:p>
            <a:pPr lvl="0"/>
            <a:r>
              <a:rPr lang="en-IN" sz="2000" dirty="0"/>
              <a:t>Use </a:t>
            </a:r>
            <a:r>
              <a:rPr lang="en-IN" sz="2000" b="1" dirty="0"/>
              <a:t>machine learning</a:t>
            </a:r>
            <a:r>
              <a:rPr lang="en-IN" sz="2000" dirty="0"/>
              <a:t> to recommend suitable crops, irrigation methods, and resources. </a:t>
            </a:r>
          </a:p>
          <a:p>
            <a:pPr lvl="0"/>
            <a:r>
              <a:rPr lang="en-IN" sz="2000" dirty="0"/>
              <a:t>Expand the analysis to include </a:t>
            </a:r>
            <a:r>
              <a:rPr lang="en-IN" sz="2000" b="1" dirty="0"/>
              <a:t>more regions and multiple years of agricultural data</a:t>
            </a:r>
            <a:r>
              <a:rPr lang="en-IN" sz="2000" dirty="0"/>
              <a:t>. </a:t>
            </a:r>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369332"/>
          </a:xfrm>
          <a:prstGeom prst="rect">
            <a:avLst/>
          </a:prstGeom>
          <a:noFill/>
        </p:spPr>
        <p:txBody>
          <a:bodyPr wrap="square">
            <a:spAutoFit/>
          </a:bodyPr>
          <a:lstStyle/>
          <a:p>
            <a:r>
              <a:rPr lang="en-US" dirty="0"/>
              <a:t>https://github.com/InigoAmalan/VOIS-INTERNSHIP</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C1CF7745-5DC1-8308-B83D-368CE5953923}"/>
              </a:ext>
            </a:extLst>
          </p:cNvPr>
          <p:cNvPicPr>
            <a:picLocks noChangeAspect="1"/>
          </p:cNvPicPr>
          <p:nvPr/>
        </p:nvPicPr>
        <p:blipFill>
          <a:blip r:embed="rId3"/>
          <a:stretch>
            <a:fillRect/>
          </a:stretch>
        </p:blipFill>
        <p:spPr>
          <a:xfrm>
            <a:off x="2122998" y="1362069"/>
            <a:ext cx="7172077" cy="506884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1399</TotalTime>
  <Words>703</Words>
  <Application>Microsoft Office PowerPoint</Application>
  <PresentationFormat>Widescreen</PresentationFormat>
  <Paragraphs>56</Paragraphs>
  <Slides>17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Seasonal Agriculture Performance Analysis analyzes agricultural data across Kharif, Rabi, and Zaid seasons to identify patterns in crop yield, environmental conditions, resource usage, revenue, and profit. Data analysis and visualization techniques are used to compare seasonal performance and generate data-driven insights for better agricultural planning. </vt:lpstr>
      <vt:lpstr>WHO ARE THE END USERS?</vt:lpstr>
      <vt:lpstr>Technology Used</vt:lpstr>
      <vt:lpstr>RESULTS </vt:lpstr>
      <vt:lpstr>RESULTS </vt:lpstr>
      <vt:lpstr>RESULTS</vt:lpstr>
      <vt:lpstr>RESULTS </vt:lpstr>
      <vt:lpstr>RESULTS </vt:lpstr>
      <vt:lpstr>Result</vt:lpstr>
      <vt:lpstr>RESULT</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kevin A</cp:lastModifiedBy>
  <cp:revision>99</cp:revision>
  <dcterms:created xsi:type="dcterms:W3CDTF">2021-07-11T13:13:15Z</dcterms:created>
  <dcterms:modified xsi:type="dcterms:W3CDTF">2026-09-06T14:01:15Z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